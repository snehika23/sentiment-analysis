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7"/>
  </p:notesMasterIdLst>
  <p:sldIdLst>
    <p:sldId id="273" r:id="rId5"/>
    <p:sldId id="275" r:id="rId6"/>
    <p:sldId id="276" r:id="rId7"/>
    <p:sldId id="277" r:id="rId8"/>
    <p:sldId id="282" r:id="rId9"/>
    <p:sldId id="278" r:id="rId10"/>
    <p:sldId id="279" r:id="rId11"/>
    <p:sldId id="280" r:id="rId12"/>
    <p:sldId id="281" r:id="rId13"/>
    <p:sldId id="283" r:id="rId14"/>
    <p:sldId id="284" r:id="rId15"/>
    <p:sldId id="28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557" autoAdjust="0"/>
  </p:normalViewPr>
  <p:slideViewPr>
    <p:cSldViewPr snapToGrid="0">
      <p:cViewPr varScale="1">
        <p:scale>
          <a:sx n="91" d="100"/>
          <a:sy n="91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wmya tanikella" userId="f98f4d1c75449cc9" providerId="LiveId" clId="{874DC962-A6E6-4F50-A8E0-E09053F27C50}"/>
    <pc:docChg chg="modSld">
      <pc:chgData name="sowmya tanikella" userId="f98f4d1c75449cc9" providerId="LiveId" clId="{874DC962-A6E6-4F50-A8E0-E09053F27C50}" dt="2023-11-05T10:24:01.842" v="7" actId="339"/>
      <pc:docMkLst>
        <pc:docMk/>
      </pc:docMkLst>
      <pc:sldChg chg="modSp mod">
        <pc:chgData name="sowmya tanikella" userId="f98f4d1c75449cc9" providerId="LiveId" clId="{874DC962-A6E6-4F50-A8E0-E09053F27C50}" dt="2023-11-05T10:21:21.657" v="1"/>
        <pc:sldMkLst>
          <pc:docMk/>
          <pc:sldMk cId="1811173779" sldId="273"/>
        </pc:sldMkLst>
        <pc:spChg chg="mod">
          <ac:chgData name="sowmya tanikella" userId="f98f4d1c75449cc9" providerId="LiveId" clId="{874DC962-A6E6-4F50-A8E0-E09053F27C50}" dt="2023-11-05T10:20:17.005" v="0" actId="6549"/>
          <ac:spMkLst>
            <pc:docMk/>
            <pc:sldMk cId="1811173779" sldId="273"/>
            <ac:spMk id="2" creationId="{DDA2022F-1436-49C5-9347-FDDDF4EE8915}"/>
          </ac:spMkLst>
        </pc:spChg>
        <pc:spChg chg="mod">
          <ac:chgData name="sowmya tanikella" userId="f98f4d1c75449cc9" providerId="LiveId" clId="{874DC962-A6E6-4F50-A8E0-E09053F27C50}" dt="2023-11-05T10:21:21.657" v="1"/>
          <ac:spMkLst>
            <pc:docMk/>
            <pc:sldMk cId="1811173779" sldId="273"/>
            <ac:spMk id="3" creationId="{4F56C232-3134-4C4E-8119-3B970E1C3887}"/>
          </ac:spMkLst>
        </pc:spChg>
      </pc:sldChg>
      <pc:sldChg chg="addSp modSp mod">
        <pc:chgData name="sowmya tanikella" userId="f98f4d1c75449cc9" providerId="LiveId" clId="{874DC962-A6E6-4F50-A8E0-E09053F27C50}" dt="2023-11-05T10:24:01.842" v="7" actId="339"/>
        <pc:sldMkLst>
          <pc:docMk/>
          <pc:sldMk cId="1176267697" sldId="285"/>
        </pc:sldMkLst>
        <pc:graphicFrameChg chg="add mod modGraphic">
          <ac:chgData name="sowmya tanikella" userId="f98f4d1c75449cc9" providerId="LiveId" clId="{874DC962-A6E6-4F50-A8E0-E09053F27C50}" dt="2023-11-05T10:24:01.842" v="7" actId="339"/>
          <ac:graphicFrameMkLst>
            <pc:docMk/>
            <pc:sldMk cId="1176267697" sldId="285"/>
            <ac:graphicFrameMk id="3" creationId="{422CBA3B-B568-950F-DB0E-B2F8149BCBF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AA0BC-6609-4556-8B76-A1EDF3B4E98C}" type="datetimeFigureOut">
              <a:rPr lang="en-US" smtClean="0"/>
              <a:t>11/5/2023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70A596-7141-45E9-836C-E467146705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599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53EF8-F1F1-426B-B0A9-FD4AEE8EDDC7}" type="datetime1">
              <a:rPr lang="en-US" smtClean="0"/>
              <a:t>11/5/2023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C161-5F1A-4F87-A250-8C55998B83EC}" type="datetime1">
              <a:rPr lang="en-US" smtClean="0"/>
              <a:t>11/5/2023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4DB066-BA4C-4ACB-B5EF-D11313F7B512}" type="datetime1">
              <a:rPr lang="en-US" smtClean="0"/>
              <a:t>11/5/2023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D13D9-FA56-4191-B3D1-0F0946347F7F}" type="datetime1">
              <a:rPr lang="en-US" smtClean="0"/>
              <a:t>11/5/2023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E99F0-C981-43CA-8461-68A368C933F2}" type="datetime1">
              <a:rPr lang="en-US" smtClean="0"/>
              <a:t>11/5/2023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E3CD-9FEF-4266-9447-6E0BADDDB821}" type="datetime1">
              <a:rPr lang="en-US" smtClean="0"/>
              <a:t>11/5/2023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ED101-F83B-4D7E-9E34-DC0B18767A58}" type="datetime1">
              <a:rPr lang="en-US" smtClean="0"/>
              <a:t>11/5/2023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7F4BB-6FA0-4C2D-AD18-4EF7D955C743}" type="datetime1">
              <a:rPr lang="en-US" smtClean="0"/>
              <a:t>11/5/2023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067F-260F-43C4-A09C-6B48384CFE2B}" type="datetime1">
              <a:rPr lang="en-US" smtClean="0"/>
              <a:t>11/5/2023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AAADA-552C-4634-A9B8-C1EEDF253588}" type="datetime1">
              <a:rPr lang="en-US" smtClean="0"/>
              <a:t>11/5/2023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6A594C05-AA5C-4F09-A6B7-D3A3193AA5D7}" type="datetime1">
              <a:rPr lang="en-US" smtClean="0"/>
              <a:t>11/5/2023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14FBE5A9-3ED6-497C-9CD0-6F852ECCBD21}" type="datetime1">
              <a:rPr lang="en-US" smtClean="0"/>
              <a:t>11/5/2023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758CB7-007C-40DF-A901-600703FB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459C3A3-8B02-4FAB-91CE-E81E1BA31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048" y="2059012"/>
            <a:ext cx="12188952" cy="1828800"/>
          </a:xfrm>
          <a:prstGeom prst="rect">
            <a:avLst/>
          </a:prstGeom>
          <a:solidFill>
            <a:schemeClr val="tx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A2022F-1436-49C5-9347-FDDDF4EE8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B366A7-87C2-43BB-AF03-1AF039EE1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048" y="3887812"/>
            <a:ext cx="12188952" cy="457200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56C232-3134-4C4E-8119-3B970E1C3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0191" y="4572000"/>
            <a:ext cx="5231163" cy="1830412"/>
          </a:xfrm>
        </p:spPr>
        <p:txBody>
          <a:bodyPr>
            <a:noAutofit/>
          </a:bodyPr>
          <a:lstStyle/>
          <a:p>
            <a:pPr algn="l"/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T.Lakshmi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Sowmya (20KN1A4456)</a:t>
            </a:r>
          </a:p>
          <a:p>
            <a:pPr algn="l"/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A.Snehika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(20KN1A4402)</a:t>
            </a:r>
          </a:p>
          <a:p>
            <a:pPr algn="l"/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N.Chandu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Teja (20KN1A4432)</a:t>
            </a:r>
          </a:p>
          <a:p>
            <a:pPr algn="l"/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Y.Samyuktha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(20KN1A4462)</a:t>
            </a:r>
          </a:p>
        </p:txBody>
      </p:sp>
    </p:spTree>
    <p:extLst>
      <p:ext uri="{BB962C8B-B14F-4D97-AF65-F5344CB8AC3E}">
        <p14:creationId xmlns:p14="http://schemas.microsoft.com/office/powerpoint/2010/main" val="18111737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758CB7-007C-40DF-A901-600703FB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A2022F-1436-49C5-9347-FDDDF4EE8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471565" cy="1739347"/>
          </a:xfrm>
          <a:solidFill>
            <a:schemeClr val="bg1">
              <a:lumMod val="90000"/>
              <a:lumOff val="10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9BEB0A-68BE-5C50-5172-20A73D07B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677" y="2177388"/>
            <a:ext cx="9144000" cy="3955055"/>
          </a:xfrm>
        </p:spPr>
        <p:txBody>
          <a:bodyPr>
            <a:normAutofit fontScale="25000" lnSpcReduction="20000"/>
          </a:bodyPr>
          <a:lstStyle/>
          <a:p>
            <a:pPr marL="1143000" indent="-1143000" algn="l">
              <a:lnSpc>
                <a:spcPct val="120000"/>
              </a:lnSpc>
              <a:buClr>
                <a:srgbClr val="2C2C2C"/>
              </a:buClr>
              <a:buFont typeface="Wingdings" panose="05000000000000000000" pitchFamily="2" charset="2"/>
              <a:buChar char="§"/>
            </a:pPr>
            <a:r>
              <a:rPr lang="en-US" sz="10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refers to identifying as well as classifying the sentiments that are expressed in the text source.</a:t>
            </a:r>
          </a:p>
          <a:p>
            <a:pPr marL="1143000" indent="-1143000" algn="l">
              <a:lnSpc>
                <a:spcPct val="120000"/>
              </a:lnSpc>
              <a:buClr>
                <a:srgbClr val="2C2C2C"/>
              </a:buClr>
              <a:buFont typeface="Wingdings" panose="05000000000000000000" pitchFamily="2" charset="2"/>
              <a:buChar char="§"/>
            </a:pPr>
            <a:r>
              <a:rPr lang="en-US" sz="10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Tweets are often useful in generating a vast amount of sentiment data upon analysis. These data are useful in understanding the opinion of the people about a variety of topics.</a:t>
            </a:r>
          </a:p>
          <a:p>
            <a:pPr marL="1143000" indent="-1143000" algn="l">
              <a:lnSpc>
                <a:spcPct val="120000"/>
              </a:lnSpc>
              <a:buClr>
                <a:srgbClr val="2C2C2C"/>
              </a:buClr>
              <a:buFont typeface="Wingdings" panose="05000000000000000000" pitchFamily="2" charset="2"/>
              <a:buChar char="§"/>
            </a:pPr>
            <a:r>
              <a:rPr lang="en-US" sz="10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10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 need to develop an </a:t>
            </a:r>
            <a:r>
              <a:rPr lang="en-US" sz="100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Machine Learning Sentiment Analysis Model </a:t>
            </a:r>
            <a:r>
              <a:rPr lang="en-US" sz="10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order to compute the customer perception.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9138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758CB7-007C-40DF-A901-600703FB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A2022F-1436-49C5-9347-FDDDF4EE8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9756"/>
            <a:ext cx="11471565" cy="1739347"/>
          </a:xfrm>
          <a:solidFill>
            <a:schemeClr val="bg1">
              <a:lumMod val="90000"/>
              <a:lumOff val="10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9BEB0A-68BE-5C50-5172-20A73D07B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4708" y="2153177"/>
            <a:ext cx="8643730" cy="4251237"/>
          </a:xfrm>
        </p:spPr>
        <p:txBody>
          <a:bodyPr>
            <a:normAutofit fontScale="25000" lnSpcReduction="20000"/>
          </a:bodyPr>
          <a:lstStyle/>
          <a:p>
            <a:pPr marL="1143000" indent="-1143000" algn="l">
              <a:lnSpc>
                <a:spcPct val="120000"/>
              </a:lnSpc>
              <a:buClr>
                <a:srgbClr val="2C2C2C"/>
              </a:buClr>
              <a:buFont typeface="Wingdings" panose="05000000000000000000" pitchFamily="2" charset="2"/>
              <a:buChar char="§"/>
            </a:pPr>
            <a:r>
              <a:rPr lang="en-US" sz="10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10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 try to implement a </a:t>
            </a:r>
            <a:r>
              <a:rPr lang="en-US" sz="100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Twitter sentiment analysis model</a:t>
            </a:r>
            <a:r>
              <a:rPr lang="en-US" sz="10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that helps to overcome the challenges of identifying the sentiments of the tweets.</a:t>
            </a:r>
          </a:p>
          <a:p>
            <a:pPr marL="1143000" indent="-1143000" algn="l">
              <a:lnSpc>
                <a:spcPct val="120000"/>
              </a:lnSpc>
              <a:buClr>
                <a:srgbClr val="2C2C2C"/>
              </a:buClr>
              <a:buFont typeface="Wingdings" panose="05000000000000000000" pitchFamily="2" charset="2"/>
              <a:buChar char="§"/>
            </a:pPr>
            <a:r>
              <a:rPr lang="en-US" sz="10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necessary details regarding the dataset are:</a:t>
            </a:r>
          </a:p>
          <a:p>
            <a:pPr marL="2057400" lvl="2" indent="-1143000" algn="l">
              <a:lnSpc>
                <a:spcPct val="120000"/>
              </a:lnSpc>
              <a:buClr>
                <a:srgbClr val="2C2C2C"/>
              </a:buClr>
              <a:buFont typeface="Wingdings" panose="05000000000000000000" pitchFamily="2" charset="2"/>
              <a:buChar char="Ø"/>
            </a:pPr>
            <a:r>
              <a:rPr lang="en-US" sz="10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provided is the </a:t>
            </a:r>
            <a:r>
              <a:rPr lang="en-US" sz="100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Sentiment140 Dataset </a:t>
            </a:r>
            <a:r>
              <a:rPr lang="en-US" sz="10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consists of </a:t>
            </a:r>
            <a:r>
              <a:rPr lang="en-US" sz="100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1,600,000 tweets</a:t>
            </a:r>
            <a:r>
              <a:rPr lang="en-US" sz="10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that have been extracted using the Twitter API. </a:t>
            </a:r>
          </a:p>
          <a:p>
            <a:pPr marL="2057400" lvl="2" indent="-1143000" algn="l">
              <a:lnSpc>
                <a:spcPct val="120000"/>
              </a:lnSpc>
              <a:buClr>
                <a:srgbClr val="2C2C2C"/>
              </a:buClr>
              <a:buFont typeface="Wingdings" panose="05000000000000000000" pitchFamily="2" charset="2"/>
              <a:buChar char="Ø"/>
            </a:pPr>
            <a:r>
              <a:rPr lang="en-US" sz="10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various columns present in the dataset are: </a:t>
            </a:r>
            <a:r>
              <a:rPr lang="en-US" sz="1000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target, ids, date, flag, user and text</a:t>
            </a:r>
          </a:p>
          <a:p>
            <a:pPr>
              <a:lnSpc>
                <a:spcPct val="120000"/>
              </a:lnSpc>
            </a:pPr>
            <a:endParaRPr lang="en-IN" dirty="0">
              <a:solidFill>
                <a:srgbClr val="2C2C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952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758CB7-007C-40DF-A901-600703FB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A2022F-1436-49C5-9347-FDDDF4EE8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471565" cy="1739347"/>
          </a:xfrm>
          <a:solidFill>
            <a:schemeClr val="bg1">
              <a:lumMod val="90000"/>
              <a:lumOff val="10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pipeline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9BEB0A-68BE-5C50-5172-20A73D07B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390" y="1977881"/>
            <a:ext cx="8564219" cy="3230223"/>
          </a:xfrm>
        </p:spPr>
        <p:txBody>
          <a:bodyPr>
            <a:normAutofit/>
          </a:bodyPr>
          <a:lstStyle/>
          <a:p>
            <a:pPr algn="l"/>
            <a:r>
              <a:rPr lang="en-US" sz="23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various steps involved in the </a:t>
            </a:r>
            <a:r>
              <a:rPr lang="en-US" sz="23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Pipeline</a:t>
            </a:r>
            <a:r>
              <a:rPr lang="en-US" sz="23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are :</a:t>
            </a:r>
          </a:p>
          <a:p>
            <a:pPr algn="l"/>
            <a:endParaRPr lang="en-US" sz="23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l">
              <a:spcBef>
                <a:spcPts val="1000"/>
              </a:spcBef>
              <a:spcAft>
                <a:spcPts val="100"/>
              </a:spcAft>
              <a:buClr>
                <a:srgbClr val="2C2C2C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 Necessary Dependencies</a:t>
            </a:r>
          </a:p>
          <a:p>
            <a:pPr marL="1257300" lvl="2" indent="-342900" algn="l">
              <a:spcBef>
                <a:spcPts val="1000"/>
              </a:spcBef>
              <a:spcAft>
                <a:spcPts val="100"/>
              </a:spcAft>
              <a:buClr>
                <a:srgbClr val="2C2C2C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 and Load the Dataset</a:t>
            </a:r>
          </a:p>
          <a:p>
            <a:pPr marL="1257300" lvl="2" indent="-342900" algn="l">
              <a:spcBef>
                <a:spcPts val="1000"/>
              </a:spcBef>
              <a:spcAft>
                <a:spcPts val="100"/>
              </a:spcAft>
              <a:buClr>
                <a:srgbClr val="2C2C2C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  <a:p>
            <a:pPr marL="1257300" lvl="2" indent="-342900" algn="l">
              <a:spcBef>
                <a:spcPts val="1000"/>
              </a:spcBef>
              <a:spcAft>
                <a:spcPts val="100"/>
              </a:spcAft>
              <a:buClr>
                <a:srgbClr val="2C2C2C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of Target Variables</a:t>
            </a:r>
          </a:p>
          <a:p>
            <a:pPr marL="1257300" lvl="2" indent="-342900" algn="l">
              <a:spcBef>
                <a:spcPts val="1000"/>
              </a:spcBef>
              <a:spcAft>
                <a:spcPts val="100"/>
              </a:spcAft>
              <a:buClr>
                <a:srgbClr val="2C2C2C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10C88B-87DA-009B-DE27-A00DA512AD79}"/>
              </a:ext>
            </a:extLst>
          </p:cNvPr>
          <p:cNvSpPr txBox="1"/>
          <p:nvPr/>
        </p:nvSpPr>
        <p:spPr>
          <a:xfrm>
            <a:off x="3667539" y="2906462"/>
            <a:ext cx="7804026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28900" lvl="5" indent="-342900" algn="l">
              <a:spcBef>
                <a:spcPts val="1000"/>
              </a:spcBef>
              <a:spcAft>
                <a:spcPts val="100"/>
              </a:spcAft>
              <a:buClr>
                <a:srgbClr val="2C2C2C"/>
              </a:buClr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Splitting our data into Train and Test Subset</a:t>
            </a:r>
          </a:p>
          <a:p>
            <a:pPr marL="2628900" lvl="5" indent="-342900" algn="l">
              <a:spcBef>
                <a:spcPts val="1000"/>
              </a:spcBef>
              <a:spcAft>
                <a:spcPts val="100"/>
              </a:spcAft>
              <a:buClr>
                <a:srgbClr val="2C2C2C"/>
              </a:buClr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Transforming Dataset using TF-IDF Vectorizer</a:t>
            </a:r>
          </a:p>
          <a:p>
            <a:pPr marL="2628900" lvl="5" indent="-342900" algn="l">
              <a:spcBef>
                <a:spcPts val="1000"/>
              </a:spcBef>
              <a:spcAft>
                <a:spcPts val="100"/>
              </a:spcAft>
              <a:buClr>
                <a:srgbClr val="2C2C2C"/>
              </a:buClr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 for Model Evaluation</a:t>
            </a:r>
          </a:p>
          <a:p>
            <a:pPr marL="2628900" lvl="5" indent="-342900" algn="l">
              <a:spcBef>
                <a:spcPts val="1000"/>
              </a:spcBef>
              <a:spcAft>
                <a:spcPts val="100"/>
              </a:spcAft>
              <a:buClr>
                <a:srgbClr val="2C2C2C"/>
              </a:buClr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</a:p>
          <a:p>
            <a:pPr marL="2628900" lvl="5" indent="-342900" algn="l">
              <a:spcBef>
                <a:spcPts val="1000"/>
              </a:spcBef>
              <a:spcAft>
                <a:spcPts val="100"/>
              </a:spcAft>
              <a:buClr>
                <a:srgbClr val="2C2C2C"/>
              </a:buClr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55578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758CB7-007C-40DF-A901-600703FB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A2022F-1436-49C5-9347-FDDDF4EE8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9757"/>
            <a:ext cx="11471565" cy="1739347"/>
          </a:xfrm>
          <a:solidFill>
            <a:schemeClr val="bg1">
              <a:lumMod val="90000"/>
              <a:lumOff val="10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9BEB0A-68BE-5C50-5172-20A73D07B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3782" y="2574954"/>
            <a:ext cx="9144000" cy="3786089"/>
          </a:xfrm>
        </p:spPr>
        <p:txBody>
          <a:bodyPr>
            <a:normAutofit/>
          </a:bodyPr>
          <a:lstStyle/>
          <a:p>
            <a:pPr marL="342900" indent="-342900" algn="l">
              <a:buClr>
                <a:schemeClr val="bg1">
                  <a:lumMod val="90000"/>
                  <a:lumOff val="1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5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5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 punctuations were cleaned and removed thereby reducing the unnecessary noise from the dataset.</a:t>
            </a:r>
          </a:p>
          <a:p>
            <a:pPr marL="342900" indent="-342900" algn="l">
              <a:buClr>
                <a:schemeClr val="bg1">
                  <a:lumMod val="90000"/>
                  <a:lumOff val="1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5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5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lso removed the repeating characters from the words along with removing the URLs</a:t>
            </a:r>
          </a:p>
          <a:p>
            <a:pPr marL="342900" indent="-342900" algn="l">
              <a:buClr>
                <a:schemeClr val="bg1">
                  <a:lumMod val="90000"/>
                  <a:lumOff val="1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5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last, we performed </a:t>
            </a:r>
          </a:p>
          <a:p>
            <a:pPr marL="800100" lvl="1" indent="-342900" algn="l">
              <a:buClr>
                <a:schemeClr val="bg1">
                  <a:lumMod val="90000"/>
                  <a:lumOff val="1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5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Stemming : </a:t>
            </a:r>
            <a:r>
              <a:rPr lang="en-US" sz="250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reducing the words to their derived stems</a:t>
            </a:r>
          </a:p>
          <a:p>
            <a:pPr marL="800100" lvl="1" indent="-342900" algn="l">
              <a:buClr>
                <a:schemeClr val="bg1">
                  <a:lumMod val="90000"/>
                  <a:lumOff val="1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5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Lemmatization: </a:t>
            </a:r>
            <a:r>
              <a:rPr lang="en-US" sz="250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reducing the derived words to their root form known as lemma for better results.</a:t>
            </a:r>
          </a:p>
          <a:p>
            <a:pPr marL="342900" indent="-342900" algn="l">
              <a:buClr>
                <a:schemeClr val="bg1">
                  <a:lumMod val="90000"/>
                  <a:lumOff val="10000"/>
                </a:schemeClr>
              </a:buClr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7476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758CB7-007C-40DF-A901-600703FB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A2022F-1436-49C5-9347-FDDDF4EE8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471565" cy="1739347"/>
          </a:xfrm>
          <a:solidFill>
            <a:schemeClr val="bg1">
              <a:lumMod val="90000"/>
              <a:lumOff val="10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 used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9BEB0A-68BE-5C50-5172-20A73D07B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4095" y="2356294"/>
            <a:ext cx="9097617" cy="3766210"/>
          </a:xfrm>
        </p:spPr>
        <p:txBody>
          <a:bodyPr>
            <a:noAutofit/>
          </a:bodyPr>
          <a:lstStyle/>
          <a:p>
            <a:pPr algn="l"/>
            <a:r>
              <a:rPr lang="en-US" sz="25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5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 aim to analyze the sentiment of the tweets provided from the </a:t>
            </a:r>
            <a:r>
              <a:rPr lang="en-US" sz="25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Sentiment140 dataset </a:t>
            </a:r>
            <a:r>
              <a:rPr lang="en-US" sz="25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developing a machine learning pipeline involving:</a:t>
            </a:r>
          </a:p>
          <a:p>
            <a:pPr marL="342900" indent="-342900" algn="l">
              <a:buClr>
                <a:srgbClr val="2C2C2C"/>
              </a:buClr>
              <a:buFont typeface="Wingdings" panose="05000000000000000000" pitchFamily="2" charset="2"/>
              <a:buChar char="§"/>
            </a:pPr>
            <a:r>
              <a:rPr lang="en-US" sz="25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three classifiers :</a:t>
            </a:r>
          </a:p>
          <a:p>
            <a:pPr marL="800100" lvl="1" indent="-342900" algn="l">
              <a:buClr>
                <a:srgbClr val="2C2C2C"/>
              </a:buClr>
              <a:buFont typeface="Wingdings" panose="05000000000000000000" pitchFamily="2" charset="2"/>
              <a:buChar char="Ø"/>
            </a:pPr>
            <a:r>
              <a:rPr lang="en-US" sz="25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Regression, Bernoulli Naive Bayes, and SVM</a:t>
            </a:r>
          </a:p>
          <a:p>
            <a:pPr marL="800100" lvl="1" indent="-342900" algn="l">
              <a:buClr>
                <a:srgbClr val="2C2C2C"/>
              </a:buClr>
              <a:buFont typeface="Wingdings" panose="05000000000000000000" pitchFamily="2" charset="2"/>
              <a:buChar char="Ø"/>
            </a:pPr>
            <a:r>
              <a:rPr lang="en-US" sz="25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Term Frequency- Inverse Document Frequency </a:t>
            </a:r>
            <a:r>
              <a:rPr lang="en-US" sz="25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TF-IDF)</a:t>
            </a:r>
            <a:r>
              <a:rPr lang="en-US" sz="25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l">
              <a:buClr>
                <a:schemeClr val="bg1">
                  <a:lumMod val="90000"/>
                  <a:lumOff val="1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5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of these classifiers is then evaluated using:</a:t>
            </a:r>
          </a:p>
          <a:p>
            <a:pPr marL="800100" lvl="1" indent="-342900" algn="l">
              <a:buClr>
                <a:schemeClr val="bg1">
                  <a:lumMod val="90000"/>
                  <a:lumOff val="1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5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5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ccuracy</a:t>
            </a:r>
            <a:r>
              <a:rPr lang="en-US" sz="25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5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F1 Scores</a:t>
            </a:r>
            <a:r>
              <a:rPr lang="en-US" sz="25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Clr>
                <a:schemeClr val="bg1">
                  <a:lumMod val="90000"/>
                  <a:lumOff val="10000"/>
                </a:schemeClr>
              </a:buClr>
              <a:buFont typeface="Wingdings" panose="05000000000000000000" pitchFamily="2" charset="2"/>
              <a:buChar char="§"/>
            </a:pPr>
            <a:endParaRPr lang="en-US" sz="25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326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758CB7-007C-40DF-A901-600703FB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A2022F-1436-49C5-9347-FDDDF4EE8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79514"/>
            <a:ext cx="11471565" cy="1739347"/>
          </a:xfrm>
          <a:solidFill>
            <a:schemeClr val="bg1">
              <a:lumMod val="90000"/>
              <a:lumOff val="10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classifiers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9BEB0A-68BE-5C50-5172-20A73D07B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4461" y="2266123"/>
            <a:ext cx="9763539" cy="4025348"/>
          </a:xfrm>
        </p:spPr>
        <p:txBody>
          <a:bodyPr>
            <a:normAutofit/>
          </a:bodyPr>
          <a:lstStyle/>
          <a:p>
            <a:pPr algn="l"/>
            <a:r>
              <a:rPr lang="en-US" sz="25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:</a:t>
            </a:r>
          </a:p>
          <a:p>
            <a:pPr algn="l"/>
            <a:r>
              <a:rPr lang="en-US" sz="25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is used for solving the classification problems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gives the probabilistic values which lie between 0 and 1.</a:t>
            </a:r>
            <a:endParaRPr lang="en-US" sz="250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5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Bernoulli Naive Bayes</a:t>
            </a:r>
            <a:r>
              <a:rPr lang="en-US" sz="25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r>
              <a:rPr lang="en-US" sz="25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b="1" i="0" dirty="0">
                <a:solidFill>
                  <a:srgbClr val="090A0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i="0" dirty="0">
                <a:solidFill>
                  <a:srgbClr val="2C2C2C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Bernoulli Naive Bayes </a:t>
            </a:r>
            <a:r>
              <a:rPr lang="en-US" sz="2500" b="0" i="0" dirty="0">
                <a:solidFill>
                  <a:srgbClr val="2C2C2C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is a variant of Naive Bayes. So, let us first talk about Naive Bayes in brief. </a:t>
            </a:r>
            <a:r>
              <a:rPr lang="en-US" sz="2500" i="0" dirty="0">
                <a:solidFill>
                  <a:srgbClr val="2C2C2C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Naive Bayes </a:t>
            </a:r>
            <a:r>
              <a:rPr lang="en-US" sz="2500" b="0" i="0" dirty="0">
                <a:solidFill>
                  <a:srgbClr val="2C2C2C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is a classification algorithm of Machine Learning based on Bayes theorem which gives the likelihood of occurrence of the event.</a:t>
            </a:r>
            <a:endParaRPr lang="en-US" sz="2500" b="1" dirty="0">
              <a:solidFill>
                <a:srgbClr val="2C2C2C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l"/>
            <a:endParaRPr lang="en-US" sz="2000" b="1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842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758CB7-007C-40DF-A901-600703FB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A2022F-1436-49C5-9347-FDDDF4EE8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471565" cy="1739347"/>
          </a:xfrm>
          <a:solidFill>
            <a:schemeClr val="bg1">
              <a:lumMod val="90000"/>
              <a:lumOff val="10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classifiers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9BEB0A-68BE-5C50-5172-20A73D07B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094" y="2300454"/>
            <a:ext cx="10077375" cy="4557535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5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SVM:</a:t>
            </a:r>
          </a:p>
          <a:p>
            <a:pPr algn="l"/>
            <a:r>
              <a:rPr lang="en-US" sz="25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Support Vector Machine or SVM is one of the most popular Supervised Learning algorithms, which is used for Classification as well as Regression problems.</a:t>
            </a:r>
          </a:p>
          <a:p>
            <a:pPr algn="l"/>
            <a:r>
              <a:rPr lang="en-US" sz="25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Term Frequency- Inverse Document Frequency </a:t>
            </a:r>
            <a:r>
              <a:rPr lang="en-US" sz="25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TF-IDF):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lang="en-US" sz="25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b="0" i="0" dirty="0">
                <a:solidFill>
                  <a:srgbClr val="26292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TF-IDF consists of two components, term frequency, and inverse document frequency.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lang="en-US" sz="2500" b="0" i="0" dirty="0">
                <a:solidFill>
                  <a:srgbClr val="26292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Term frequency can be determined by counting the number of occurrences of a term in a document.</a:t>
            </a:r>
          </a:p>
          <a:p>
            <a:pPr algn="l">
              <a:spcAft>
                <a:spcPts val="100"/>
              </a:spcAft>
            </a:pPr>
            <a:r>
              <a:rPr lang="en-US" sz="2500" b="0" i="0" dirty="0">
                <a:solidFill>
                  <a:srgbClr val="26292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IDF is calculated by dividing the total number of documents by the number of documents in the collection containing the term.</a:t>
            </a:r>
          </a:p>
          <a:p>
            <a:pPr algn="l"/>
            <a:endParaRPr lang="en-US" sz="2500" b="1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068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758CB7-007C-40DF-A901-600703FB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A2022F-1436-49C5-9347-FDDDF4EE8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471565" cy="1739347"/>
          </a:xfrm>
          <a:solidFill>
            <a:schemeClr val="bg1">
              <a:lumMod val="90000"/>
              <a:lumOff val="10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evaluators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9BEB0A-68BE-5C50-5172-20A73D07B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625" y="1888434"/>
            <a:ext cx="10754139" cy="4850296"/>
          </a:xfrm>
        </p:spPr>
        <p:txBody>
          <a:bodyPr>
            <a:normAutofit/>
          </a:bodyPr>
          <a:lstStyle/>
          <a:p>
            <a:pPr algn="l"/>
            <a:r>
              <a:rPr lang="en-US" sz="25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</a:p>
          <a:p>
            <a:pPr algn="l"/>
            <a:r>
              <a:rPr lang="en-US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500" i="0" dirty="0">
                <a:solidFill>
                  <a:srgbClr val="2C2C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 tells you how many times the ML model was correct overall.</a:t>
            </a:r>
            <a:r>
              <a:rPr lang="en-US" sz="2400" b="1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i="0" dirty="0">
                <a:solidFill>
                  <a:srgbClr val="2C2C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 of correct predictions</a:t>
            </a:r>
            <a:r>
              <a:rPr lang="en-US" sz="2400" b="0" i="0" dirty="0">
                <a:solidFill>
                  <a:srgbClr val="2C2C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Total number of predictions.</a:t>
            </a:r>
          </a:p>
          <a:p>
            <a:pPr algn="l"/>
            <a:r>
              <a:rPr lang="en-US" sz="2400" b="0" i="0" dirty="0">
                <a:solidFill>
                  <a:srgbClr val="2C2C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0" i="0" dirty="0">
                <a:solidFill>
                  <a:srgbClr val="888888"/>
                </a:solidFill>
                <a:effectLst/>
                <a:latin typeface="Helvetica Neue"/>
              </a:rPr>
              <a:t> </a:t>
            </a:r>
            <a:r>
              <a:rPr lang="en-US" sz="2000" b="1" i="0" dirty="0">
                <a:solidFill>
                  <a:srgbClr val="2C2C2C"/>
                </a:solidFill>
                <a:effectLst/>
                <a:highlight>
                  <a:srgbClr val="C0C0C0"/>
                </a:highlight>
                <a:latin typeface="Helvetica Neue"/>
              </a:rPr>
              <a:t>Accuracy = TP+TN/TP+FP+FN+TN</a:t>
            </a:r>
            <a:endParaRPr lang="en-US" sz="2400" b="1" i="0" dirty="0">
              <a:solidFill>
                <a:srgbClr val="2C2C2C"/>
              </a:solidFill>
              <a:effectLst/>
              <a:highlight>
                <a:srgbClr val="C0C0C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b="0" i="0" dirty="0">
              <a:solidFill>
                <a:srgbClr val="2C2C2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5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F1 Scores:</a:t>
            </a:r>
          </a:p>
          <a:p>
            <a:pPr algn="l"/>
            <a:r>
              <a:rPr lang="en-US" sz="25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500" b="0" i="0" dirty="0">
                <a:solidFill>
                  <a:srgbClr val="2C2C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F1 score is defined as </a:t>
            </a:r>
            <a:r>
              <a:rPr lang="en-US" sz="2500" i="0" dirty="0">
                <a:solidFill>
                  <a:srgbClr val="2C2C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harmonic mean of precision and recall.</a:t>
            </a:r>
          </a:p>
          <a:p>
            <a:pPr algn="l"/>
            <a:r>
              <a:rPr lang="en-US" sz="2500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b="0" i="0" dirty="0">
                <a:solidFill>
                  <a:srgbClr val="888888"/>
                </a:solidFill>
                <a:effectLst/>
                <a:latin typeface="Helvetica Neue"/>
              </a:rPr>
              <a:t> </a:t>
            </a:r>
            <a:r>
              <a:rPr lang="en-IN" sz="2400" b="1" i="0" dirty="0">
                <a:solidFill>
                  <a:srgbClr val="2C2C2C"/>
                </a:solidFill>
                <a:effectLst/>
                <a:highlight>
                  <a:srgbClr val="C0C0C0"/>
                </a:highlight>
                <a:latin typeface="Helvetica Neue"/>
              </a:rPr>
              <a:t>F1 Score = 2*(Recall * Precision) / (Recall + Precision)</a:t>
            </a:r>
            <a:endParaRPr lang="en-US" sz="2500" b="1" i="0" dirty="0">
              <a:solidFill>
                <a:srgbClr val="2C2C2C"/>
              </a:solidFill>
              <a:effectLst/>
              <a:highlight>
                <a:srgbClr val="C0C0C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500" dirty="0">
              <a:solidFill>
                <a:srgbClr val="2C2C2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6DE08520-55C7-B58E-6293-676B6D9649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52982" y="2942054"/>
            <a:ext cx="486946" cy="486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989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758CB7-007C-40DF-A901-600703FB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A2022F-1436-49C5-9347-FDDDF4EE8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9757"/>
            <a:ext cx="11471565" cy="1739347"/>
          </a:xfrm>
          <a:solidFill>
            <a:schemeClr val="bg1">
              <a:lumMod val="90000"/>
              <a:lumOff val="10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9BEB0A-68BE-5C50-5172-20A73D07B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7165" y="2704163"/>
            <a:ext cx="9144000" cy="2802115"/>
          </a:xfrm>
        </p:spPr>
        <p:txBody>
          <a:bodyPr/>
          <a:lstStyle/>
          <a:p>
            <a:pPr marL="342900" indent="-342900" algn="l">
              <a:buClr>
                <a:srgbClr val="2C2C2C"/>
              </a:buClr>
              <a:buFont typeface="Wingdings" panose="05000000000000000000" pitchFamily="2" charset="2"/>
              <a:buChar char="§"/>
            </a:pPr>
            <a:r>
              <a:rPr lang="en-IN" sz="2500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 analysis</a:t>
            </a:r>
          </a:p>
          <a:p>
            <a:pPr marL="342900" indent="-342900" algn="l">
              <a:buClr>
                <a:srgbClr val="2C2C2C"/>
              </a:buClr>
              <a:buFont typeface="Wingdings" panose="05000000000000000000" pitchFamily="2" charset="2"/>
              <a:buChar char="§"/>
            </a:pPr>
            <a:r>
              <a:rPr lang="en-IN" sz="2500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talk on a product or service or movie</a:t>
            </a:r>
          </a:p>
          <a:p>
            <a:pPr marL="342900" indent="-342900" algn="l">
              <a:buClr>
                <a:srgbClr val="2C2C2C"/>
              </a:buClr>
              <a:buFont typeface="Wingdings" panose="05000000000000000000" pitchFamily="2" charset="2"/>
              <a:buChar char="§"/>
            </a:pPr>
            <a:r>
              <a:rPr lang="en-IN" sz="2500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Opinion poles</a:t>
            </a:r>
          </a:p>
          <a:p>
            <a:pPr marL="342900" indent="-342900" algn="l">
              <a:buClr>
                <a:srgbClr val="2C2C2C"/>
              </a:buClr>
              <a:buFont typeface="Wingdings" panose="05000000000000000000" pitchFamily="2" charset="2"/>
              <a:buChar char="§"/>
            </a:pPr>
            <a:r>
              <a:rPr lang="en-IN" sz="2500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Research</a:t>
            </a:r>
          </a:p>
          <a:p>
            <a:pPr marL="342900" indent="-342900" algn="l">
              <a:buClr>
                <a:srgbClr val="2C2C2C"/>
              </a:buClr>
              <a:buFont typeface="Wingdings" panose="05000000000000000000" pitchFamily="2" charset="2"/>
              <a:buChar char="§"/>
            </a:pPr>
            <a:r>
              <a:rPr lang="en-IN" sz="2500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medial monitoring</a:t>
            </a:r>
          </a:p>
          <a:p>
            <a:pPr marL="342900" indent="-342900" algn="l">
              <a:buClr>
                <a:srgbClr val="2C2C2C"/>
              </a:buClr>
              <a:buFont typeface="Wingdings" panose="05000000000000000000" pitchFamily="2" charset="2"/>
              <a:buChar char="§"/>
            </a:pPr>
            <a:endParaRPr lang="en-IN" dirty="0">
              <a:solidFill>
                <a:srgbClr val="2C2C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828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758CB7-007C-40DF-A901-600703FB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A2022F-1436-49C5-9347-FDDDF4EE8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9757"/>
            <a:ext cx="11471565" cy="1739347"/>
          </a:xfrm>
          <a:solidFill>
            <a:schemeClr val="bg1">
              <a:lumMod val="90000"/>
              <a:lumOff val="10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9BEB0A-68BE-5C50-5172-20A73D07B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7165" y="2704163"/>
            <a:ext cx="9144000" cy="2802115"/>
          </a:xfrm>
        </p:spPr>
        <p:txBody>
          <a:bodyPr/>
          <a:lstStyle/>
          <a:p>
            <a:pPr marL="342900" indent="-342900" algn="l">
              <a:buClr>
                <a:srgbClr val="2C2C2C"/>
              </a:buClr>
              <a:buFont typeface="Wingdings" panose="05000000000000000000" pitchFamily="2" charset="2"/>
              <a:buChar char="§"/>
            </a:pPr>
            <a:endParaRPr lang="en-IN" dirty="0">
              <a:solidFill>
                <a:srgbClr val="2C2C2C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0F1AFF-190C-2B74-33DA-CAC53FA557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09"/>
          <a:stretch/>
        </p:blipFill>
        <p:spPr>
          <a:xfrm>
            <a:off x="0" y="1699590"/>
            <a:ext cx="11471565" cy="515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322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758CB7-007C-40DF-A901-600703FB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A2022F-1436-49C5-9347-FDDDF4EE8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9757"/>
            <a:ext cx="11897139" cy="3677478"/>
          </a:xfrm>
          <a:solidFill>
            <a:schemeClr val="bg1">
              <a:lumMod val="90000"/>
              <a:lumOff val="10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sz="1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 descr="Smiling Face">
                <a:extLst>
                  <a:ext uri="{FF2B5EF4-FFF2-40B4-BE49-F238E27FC236}">
                    <a16:creationId xmlns:a16="http://schemas.microsoft.com/office/drawing/2014/main" id="{422CBA3B-B568-950F-DB0E-B2F8149BCBF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39741051"/>
                  </p:ext>
                </p:extLst>
              </p:nvPr>
            </p:nvGraphicFramePr>
            <p:xfrm>
              <a:off x="5425655" y="4382495"/>
              <a:ext cx="1340689" cy="1359707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340689" cy="1359707"/>
                    </a:xfrm>
                    <a:prstGeom prst="rect">
                      <a:avLst/>
                    </a:prstGeom>
                    <a:ln>
                      <a:noFill/>
                    </a:ln>
                    <a:effectLst>
                      <a:outerShdw blurRad="190500" dist="228600" dir="2700000" algn="ctr">
                        <a:srgbClr val="000000">
                          <a:alpha val="30000"/>
                        </a:srgb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glow" dir="t">
                        <a:rot lat="0" lon="0" rev="4800000"/>
                      </a:lightRig>
                    </a:scene3d>
                    <a:sp3d prstMaterial="matte">
                      <a:bevelT w="127000" h="63500"/>
                    </a:sp3d>
                  </am3d:spPr>
                  <am3d:camera>
                    <am3d:pos x="0" y="0" z="8093801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067647" d="1000000"/>
                    <am3d:preTrans dx="0" dy="-2" dz="1153533"/>
                    <am3d:scale>
                      <am3d:sx n="1000000" d="1000000"/>
                      <am3d:sy n="1000000" d="1000000"/>
                      <am3d:sz n="1000000" d="1000000"/>
                    </am3d:scale>
                    <am3d:rot ax="250979" ay="-31267" az="-229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31054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 descr="Smiling Face">
                <a:extLst>
                  <a:ext uri="{FF2B5EF4-FFF2-40B4-BE49-F238E27FC236}">
                    <a16:creationId xmlns:a16="http://schemas.microsoft.com/office/drawing/2014/main" id="{422CBA3B-B568-950F-DB0E-B2F8149BCBF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25655" y="4382495"/>
                <a:ext cx="1340689" cy="1359707"/>
              </a:xfrm>
              <a:prstGeom prst="rect">
                <a:avLst/>
              </a:prstGeom>
              <a:ln>
                <a:noFill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62676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9934CB3-A97C-40D1-8D7D-5211E1C57C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871927-9856-4138-B7A7-125C4AA7EF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4E3864-550F-4194-BC9D-CCA442A52D0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Banded design</Template>
  <TotalTime>140</TotalTime>
  <Words>634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Corbel</vt:lpstr>
      <vt:lpstr>Helvetica Neue</vt:lpstr>
      <vt:lpstr>Times New Roman</vt:lpstr>
      <vt:lpstr>Wingdings</vt:lpstr>
      <vt:lpstr>Banded</vt:lpstr>
      <vt:lpstr>sentiment analysis</vt:lpstr>
      <vt:lpstr> Introduction</vt:lpstr>
      <vt:lpstr> Problem statement</vt:lpstr>
      <vt:lpstr> project pipeline</vt:lpstr>
      <vt:lpstr> data pre-processing</vt:lpstr>
      <vt:lpstr> metrics used</vt:lpstr>
      <vt:lpstr> classifiers</vt:lpstr>
      <vt:lpstr>  classifiers</vt:lpstr>
      <vt:lpstr> evaluators </vt:lpstr>
      <vt:lpstr> Applications</vt:lpstr>
      <vt:lpstr> Conclusion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Twitter sentiment analysis</dc:title>
  <dc:creator>sowmya</dc:creator>
  <cp:lastModifiedBy>sowmya tanikella</cp:lastModifiedBy>
  <cp:revision>1</cp:revision>
  <dcterms:created xsi:type="dcterms:W3CDTF">2022-11-09T11:03:18Z</dcterms:created>
  <dcterms:modified xsi:type="dcterms:W3CDTF">2023-11-05T10:24:10Z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